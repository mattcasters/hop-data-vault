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getting-started-modeler.adoc" TargetMode="External" /><Relationship Id="rId3" Type="http://schemas.openxmlformats.org/officeDocument/2006/relationships/hyperlink" Target="../../README.md" TargetMode="External" /><Relationship Id="rId4" Type="http://schemas.openxmlformats.org/officeDocument/2006/relationships/hyperlink" Target="../../project/PROJECT.md" TargetMode="External" /><Relationship Id="rId5" Type="http://schemas.openxmlformats.org/officeDocument/2006/relationships/hyperlink" Target="../README.md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Hop Data Vault 2.0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Model-driven Data Vault and Business Vault on Apache Hop 2.18.1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data warehouses built with hand-written pipelines drift from the model.</a:t>
            </a:r>
          </a:p>
          <a:p>
            <a:pPr lvl="0"/>
            <a:r>
              <a:rPr/>
              <a:t>Hashing rules change in one pipeline but not another</a:t>
            </a:r>
          </a:p>
          <a:p>
            <a:pPr lvl="0"/>
            <a:r>
              <a:rPr/>
              <a:t>Satellite CDC logic is copy-pasted across feeds</a:t>
            </a:r>
          </a:p>
          <a:p>
            <a:pPr lvl="0"/>
            <a:r>
              <a:rPr/>
              <a:t>Business Vault / SCD2 timelines are rebuilt in SQL or dbt without a shared contract</a:t>
            </a:r>
          </a:p>
          <a:p>
            <a:pPr lvl="0"/>
            <a:r>
              <a:rPr/>
              <a:t>Hybrid teams (Hop + dbt + SQL) cannot share one metadata picture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slower delivery, inconsistent loads, and fragile consumption layers.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once. Generate loads and consumption layers.</a:t>
            </a:r>
          </a:p>
          <a:p>
            <a:pPr lvl="0" indent="-342900" marL="342900">
              <a:buAutoNum type="arabicPeriod"/>
            </a:pPr>
            <a:r>
              <a:rPr/>
              <a:t>Define sources, hubs, links, and satellites in a visual model (</a:t>
            </a:r>
            <a:r>
              <a:rPr>
                <a:latin typeface="Courier"/>
              </a:rPr>
              <a:t>.hdv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Validate structure and types before anything runs</a:t>
            </a:r>
          </a:p>
          <a:p>
            <a:pPr lvl="0" indent="-342900" marL="342900">
              <a:buAutoNum type="arabicPeriod"/>
            </a:pPr>
            <a:r>
              <a:rPr/>
              <a:t>Generate DDL and insert-only load pipelines automatically</a:t>
            </a:r>
          </a:p>
          <a:p>
            <a:pPr lvl="0" indent="-342900" marL="342900">
              <a:buAutoNum type="arabicPeriod"/>
            </a:pPr>
            <a:r>
              <a:rPr/>
              <a:t>Build Business Vault SCD2 tables from satellite history (</a:t>
            </a:r>
            <a:r>
              <a:rPr>
                <a:latin typeface="Courier"/>
              </a:rPr>
              <a:t>.hbv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Run controlled batch updates from workflow actions</a:t>
            </a:r>
          </a:p>
          <a:p>
            <a:pPr lvl="0" indent="0" marL="0">
              <a:buNone/>
            </a:pPr>
            <a:r>
              <a:rPr/>
              <a:t>The model is the contract — not a diagram that diverges from production.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Data Vault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Hubs</a:t>
            </a:r>
            <a:r>
              <a:rPr/>
              <a:t> — core business entities (Customer, Product, Order)</a:t>
            </a:r>
          </a:p>
          <a:p>
            <a:pPr lvl="0" indent="0" marL="0">
              <a:buNone/>
            </a:pPr>
            <a:r>
              <a:rPr b="1"/>
              <a:t>Links</a:t>
            </a:r>
            <a:r>
              <a:rPr/>
              <a:t> — relationships between hubs</a:t>
            </a:r>
          </a:p>
          <a:p>
            <a:pPr lvl="0" indent="0" marL="0">
              <a:buNone/>
            </a:pPr>
            <a:r>
              <a:rPr b="1"/>
              <a:t>Satellites</a:t>
            </a:r>
            <a:r>
              <a:rPr/>
              <a:t> — descriptive history attached to hubs or links</a:t>
            </a:r>
          </a:p>
          <a:p>
            <a:pPr lvl="0" indent="0" marL="0">
              <a:buNone/>
            </a:pPr>
            <a:r>
              <a:rPr b="1"/>
              <a:t>Insert-only loading</a:t>
            </a:r>
            <a:r>
              <a:rPr/>
              <a:t> — new rows only when keys or attributes actually change; every batch shares one load timestamp.</a:t>
            </a:r>
          </a:p>
          <a:p>
            <a:pPr lvl="0" indent="0" marL="0">
              <a:buNone/>
            </a:pPr>
            <a:r>
              <a:rPr/>
              <a:t>Supports multi-active satellites, link satellites, load end dating, multi-source hubs, and sentinel rows (unknown / invalid).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Vault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vault stores </a:t>
            </a:r>
            <a:r>
              <a:rPr b="1"/>
              <a:t>technical</a:t>
            </a:r>
            <a:r>
              <a:rPr/>
              <a:t> history (when the warehouse loaded a change).</a:t>
            </a:r>
          </a:p>
          <a:p>
            <a:pPr lvl="0" indent="0" marL="0">
              <a:buNone/>
            </a:pPr>
            <a:r>
              <a:rPr/>
              <a:t>Consumption often needs </a:t>
            </a:r>
            <a:r>
              <a:rPr b="1"/>
              <a:t>functional</a:t>
            </a:r>
            <a:r>
              <a:rPr/>
              <a:t> history (when the source says a value was true).</a:t>
            </a:r>
          </a:p>
          <a:p>
            <a:pPr lvl="0" indent="0" marL="0">
              <a:buNone/>
            </a:pPr>
            <a:r>
              <a:rPr/>
              <a:t>The plugin generates </a:t>
            </a:r>
            <a:r>
              <a:rPr b="1"/>
              <a:t>SCD Type 2</a:t>
            </a:r>
            <a:r>
              <a:rPr/>
              <a:t> Business Vault tables:</a:t>
            </a:r>
          </a:p>
          <a:p>
            <a:pPr lvl="0"/>
            <a:r>
              <a:rPr>
                <a:latin typeface="Courier"/>
              </a:rPr>
              <a:t>valid_from</a:t>
            </a:r>
            <a:r>
              <a:rPr/>
              <a:t> / </a:t>
            </a:r>
            <a:r>
              <a:rPr>
                <a:latin typeface="Courier"/>
              </a:rPr>
              <a:t>valid_to</a:t>
            </a:r>
            <a:r>
              <a:rPr/>
              <a:t> (or your column names)</a:t>
            </a:r>
          </a:p>
          <a:p>
            <a:pPr lvl="0"/>
            <a:r>
              <a:rPr/>
              <a:t>Open-ended sentinels for current rows</a:t>
            </a:r>
          </a:p>
          <a:p>
            <a:pPr lvl="0"/>
            <a:r>
              <a:rPr/>
              <a:t>Single-satellite or </a:t>
            </a:r>
            <a:r>
              <a:rPr b="1"/>
              <a:t>multi-satellite merge</a:t>
            </a:r>
            <a:r>
              <a:rPr/>
              <a:t> (e.g. Customer 360 from four satellites)</a:t>
            </a:r>
          </a:p>
          <a:p>
            <a:pPr lvl="0" indent="0" marL="0">
              <a:buNone/>
            </a:pPr>
            <a:r>
              <a:rPr/>
              <a:t>Saved as </a:t>
            </a:r>
            <a:r>
              <a:rPr>
                <a:latin typeface="Courier"/>
              </a:rPr>
              <a:t>.hbv</a:t>
            </a:r>
            <a:r>
              <a:rPr/>
              <a:t> files, linked to the underlying </a:t>
            </a:r>
            <a:r>
              <a:rPr>
                <a:latin typeface="Courier"/>
              </a:rPr>
              <a:t>.hdv</a:t>
            </a:r>
            <a:r>
              <a:rPr/>
              <a:t> model.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Hybrid warehouses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every raw vault table must be Hop-loaded.</a:t>
            </a:r>
          </a:p>
          <a:p>
            <a:pPr lvl="0" indent="0" marL="0">
              <a:buNone/>
            </a:pPr>
            <a:r>
              <a:rPr b="1"/>
              <a:t>Integration modes</a:t>
            </a:r>
            <a:r>
              <a:rPr/>
              <a:t> per hub, link, or satellite: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Hop managed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Hop generates DDL and update pipelines (default)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External read-only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 exists elsewhere (dbt, SQL, another ETL); Hop documents it for BV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pipelines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Hop orchestrates your own </a:t>
                      </a:r>
                      <a:r>
                        <a:rPr>
                          <a:latin typeface="Courier"/>
                        </a:rPr>
                        <a:t>.hpl</a:t>
                      </a:r>
                      <a:r>
                        <a:rPr/>
                        <a:t> files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Vault generation reads </a:t>
            </a:r>
            <a:r>
              <a:rPr b="1"/>
              <a:t>metadata</a:t>
            </a:r>
            <a:r>
              <a:rPr/>
              <a:t> (table layout, hash keys, attributes) — not Hop-generated DV pipelines. External tables participate fully in BV and catalog publish.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Model-driven operations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Check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Catch broken references and type mismatches early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Generate DDL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Preview CREATE/ALTER for the vault database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Debug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generated pipelines for inspection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Vault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raw vault batch load from a workflow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Business Vault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Rebuild BV tables from satellite history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validation engine in the GUI and in workflow actions.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catalog and lineage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Sources</a:t>
            </a:r>
            <a:r>
              <a:rPr/>
              <a:t> live in the Hop data catalog (record definitions, field layouts, groups)</a:t>
            </a:r>
          </a:p>
          <a:p>
            <a:pPr lvl="0"/>
            <a:r>
              <a:rPr/>
              <a:t>Optional </a:t>
            </a:r>
            <a:r>
              <a:rPr b="1"/>
              <a:t>publish</a:t>
            </a:r>
            <a:r>
              <a:rPr/>
              <a:t> of target table layouts after DV or BV updates</a:t>
            </a:r>
          </a:p>
          <a:p>
            <a:pPr lvl="0"/>
            <a:r>
              <a:rPr/>
              <a:t>Foundation for downstream dimensional modeling and lineage (Marquez / OpenLineage planned)</a:t>
            </a:r>
          </a:p>
          <a:p>
            <a:pPr lvl="0" indent="0" marL="0">
              <a:buNone/>
            </a:pPr>
            <a:r>
              <a:rPr/>
              <a:t>Catalog + model = shared vocabulary between ingestion, vault, and consumption teams.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advisory (optional accelerator)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Help</a:t>
            </a:r>
            <a:r>
              <a:rPr/>
              <a:t> on the DV model toolbar:</a:t>
            </a:r>
          </a:p>
          <a:p>
            <a:pPr lvl="0"/>
            <a:r>
              <a:rPr/>
              <a:t>Analyze catalog sources and suggest hubs, links, satellites</a:t>
            </a:r>
          </a:p>
          <a:p>
            <a:pPr lvl="0"/>
            <a:r>
              <a:rPr/>
              <a:t>Propose layout and type mappings with review-before-apply</a:t>
            </a:r>
          </a:p>
          <a:p>
            <a:pPr lvl="0"/>
            <a:r>
              <a:rPr/>
              <a:t>Troubleshoot validation and integration errors</a:t>
            </a:r>
          </a:p>
          <a:p>
            <a:pPr lvl="0" indent="0" marL="0">
              <a:buNone/>
            </a:pPr>
            <a:r>
              <a:rPr/>
              <a:t>Requires a configured LLM in Hop GUI → Configuration → AI Assistant. Human modelers remain in control.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Quality and repeatability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sample </a:t>
            </a:r>
            <a:r>
              <a:rPr>
                <a:latin typeface="Courier"/>
              </a:rPr>
              <a:t>project/</a:t>
            </a:r>
            <a:r>
              <a:rPr/>
              <a:t> includes:</a:t>
            </a:r>
          </a:p>
          <a:p>
            <a:pPr lvl="0"/>
            <a:r>
              <a:rPr/>
              <a:t>Golden-dataset unit tests per suite</a:t>
            </a:r>
          </a:p>
          <a:p>
            <a:pPr lvl="0"/>
            <a:r>
              <a:rPr/>
              <a:t>Docker-based test runner (PostgreSQL, MySQL, SingleStore)</a:t>
            </a:r>
          </a:p>
          <a:p>
            <a:pPr lvl="0"/>
            <a:r>
              <a:rPr/>
              <a:t>Metrics JSON per Data Vault / Business Vault update run</a:t>
            </a:r>
          </a:p>
          <a:p>
            <a:pPr lvl="0"/>
            <a:r>
              <a:rPr/>
              <a:t>Orchestrated workflow covering basic vault, multi-active, link satellite, load end date, status tracking, multi-source hub, and </a:t>
            </a:r>
            <a:r>
              <a:rPr b="1"/>
              <a:t>multi-satellite Business Vault (Customer 360)</a:t>
            </a:r>
          </a:p>
          <a:p>
            <a:pPr lvl="0" indent="0" marL="0">
              <a:buNone/>
            </a:pPr>
            <a:r>
              <a:rPr/>
              <a:t>CI-friendly: fail fast on model checks or DDL drift.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Sources (catalog / CRM)
        │
        ▼
  Raw Data Vault (.hdv)
  hubs · links · satellites
        │
        ├── Hop-managed loads
        ├── External read-only tables
        └── Custom .hpl orchestration
        │
        ▼
  Business Vault (.hbv)
  SCD2 · PIT · future bridges
        │
        ▼
  Dimensional / marts (roadmap)</a:t>
            </a:r>
          </a:p>
          <a:p>
            <a:pPr lvl="0" indent="0" marL="0">
              <a:buNone/>
            </a:pPr>
            <a:r>
              <a:rPr/>
              <a:t>One metadata chain from staging to consumption.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benefits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Architects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Governed hashing, naming, and load patterns; hybrid warehouse support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Modelers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Visual design, generated pipelines, BV without hand-written SQL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Workflow-driven batches, parallel execution, metrics, validation gates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Analytics / BI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Functional SCD2 timelines and standardized BV column names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project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 </a:t>
            </a:r>
            <a:r>
              <a:rPr>
                <a:latin typeface="Courier"/>
              </a:rPr>
              <a:t>project/tests/</a:t>
            </a:r>
            <a:r>
              <a:rPr/>
              <a:t>:</a:t>
            </a:r>
          </a:p>
          <a:p>
            <a:pPr lvl="0"/>
            <a:r>
              <a:rPr b="1"/>
              <a:t>vault1</a:t>
            </a:r>
            <a:r>
              <a:rPr/>
              <a:t> — classic hub / link / satellite</a:t>
            </a:r>
          </a:p>
          <a:p>
            <a:pPr lvl="0"/>
            <a:r>
              <a:rPr b="1"/>
              <a:t>customer-phone</a:t>
            </a:r>
            <a:r>
              <a:rPr/>
              <a:t> — multi-active satellite</a:t>
            </a:r>
          </a:p>
          <a:p>
            <a:pPr lvl="0"/>
            <a:r>
              <a:rPr b="1"/>
              <a:t>customer-360</a:t>
            </a:r>
            <a:r>
              <a:rPr/>
              <a:t> — four satellites merged into one BV SCD2 table</a:t>
            </a:r>
          </a:p>
          <a:p>
            <a:pPr lvl="0"/>
            <a:r>
              <a:rPr b="1"/>
              <a:t>customer-360-external</a:t>
            </a:r>
            <a:r>
              <a:rPr/>
              <a:t> — same BV model with </a:t>
            </a:r>
            <a:r>
              <a:rPr b="1"/>
              <a:t>external read-only</a:t>
            </a:r>
            <a:r>
              <a:rPr/>
              <a:t> DV satellites</a:t>
            </a:r>
          </a:p>
        </p:txBody>
      </p:sp>
      <p:pic>
        <p:nvPicPr>
          <p:cNvPr descr="../images/data-vault-model-customer-36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Customer 360 Data Vault model</a:t>
            </a:r>
          </a:p>
        </p:txBody>
      </p:sp>
      <p:pic>
        <p:nvPicPr>
          <p:cNvPr descr="../images/business-vault-model-customer-36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93900" y="1193800"/>
            <a:ext cx="516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Customer 360 Business Vault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Runnable via </a:t>
            </a:r>
            <a:r>
              <a:rPr>
                <a:latin typeface="Courier"/>
              </a:rPr>
              <a:t>project/run-tests.sh</a:t>
            </a:r>
            <a:r>
              <a:rPr/>
              <a:t> or Hop GUI with the </a:t>
            </a:r>
            <a:r>
              <a:rPr>
                <a:latin typeface="Courier"/>
              </a:rPr>
              <a:t>hop-data-vault</a:t>
            </a:r>
            <a:r>
              <a:rPr/>
              <a:t> project open.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modes (when to use which)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Hop managed</a:t>
            </a:r>
            <a:r>
              <a:rPr/>
              <a:t> — greenfield vault tables owned by Hop; full DDL + pipeline generation.</a:t>
            </a:r>
          </a:p>
          <a:p>
            <a:pPr lvl="0" indent="0" marL="0">
              <a:buNone/>
            </a:pPr>
            <a:r>
              <a:rPr b="1"/>
              <a:t>External read-only</a:t>
            </a:r>
            <a:r>
              <a:rPr/>
              <a:t> — dbt or another tool loads the raw vault; Hop models structure for BV, checks, and catalog. Canvas shows </a:t>
            </a:r>
            <a:r>
              <a:rPr>
                <a:latin typeface="Courier"/>
              </a:rPr>
              <a:t>(ext)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Custom pipelines</a:t>
            </a:r>
            <a:r>
              <a:rPr/>
              <a:t> — you maintain </a:t>
            </a:r>
            <a:r>
              <a:rPr>
                <a:latin typeface="Courier"/>
              </a:rPr>
              <a:t>.hpl</a:t>
            </a:r>
            <a:r>
              <a:rPr/>
              <a:t> loaders; Hop runs them in the same orchestrator as generated pipelines. Canvas shows </a:t>
            </a:r>
            <a:r>
              <a:rPr>
                <a:latin typeface="Courier"/>
              </a:rPr>
              <a:t>(custom)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Choose per table — mixed models are supported.</a:t>
            </a:r>
          </a:p>
        </p:txBody>
      </p:sp>
      <p:pic>
        <p:nvPicPr>
          <p:cNvPr descr="../images/data-vault-model-customer-360-extern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External read-only satellites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Maturity and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today</a:t>
            </a:r>
          </a:p>
          <a:p>
            <a:pPr lvl="0"/>
            <a:r>
              <a:rPr/>
              <a:t>Raw DV modeling and loading</a:t>
            </a:r>
          </a:p>
          <a:p>
            <a:pPr lvl="0"/>
            <a:r>
              <a:rPr/>
              <a:t>Business Vault SCD2 (single and multi-satellite)</a:t>
            </a:r>
          </a:p>
          <a:p>
            <a:pPr lvl="0"/>
            <a:r>
              <a:rPr/>
              <a:t>PIT table type in BV model</a:t>
            </a:r>
          </a:p>
          <a:p>
            <a:pPr lvl="0"/>
            <a:r>
              <a:rPr/>
              <a:t>External / custom integration modes</a:t>
            </a:r>
          </a:p>
          <a:p>
            <a:pPr lvl="0"/>
            <a:r>
              <a:rPr/>
              <a:t>AI advisory</a:t>
            </a:r>
          </a:p>
          <a:p>
            <a:pPr lvl="0" indent="0" marL="0">
              <a:buNone/>
            </a:pPr>
            <a:r>
              <a:rPr b="1"/>
              <a:t>Planned</a:t>
            </a:r>
          </a:p>
          <a:p>
            <a:pPr lvl="0"/>
            <a:r>
              <a:rPr/>
              <a:t>Dimensional modeler (Kimball-style from DV/BV metadata)</a:t>
            </a:r>
          </a:p>
          <a:p>
            <a:pPr lvl="0"/>
            <a:r>
              <a:rPr/>
              <a:t>Business Vault field dictionary (naming / typing rules)</a:t>
            </a:r>
          </a:p>
          <a:p>
            <a:pPr lvl="0"/>
            <a:r>
              <a:rPr/>
              <a:t>Marquez / OpenLineage lineage export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 here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Modelers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docs/getting-started-modeler.adoc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Implementers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README.md</a:t>
                      </a:r>
                      <a:r>
                        <a:rPr/>
                        <a:t> and </a:t>
                      </a:r>
                      <a:r>
                        <a:rPr>
                          <a:hlinkClick r:id="rId4"/>
                        </a:rPr>
                        <a:t>project/PROJECT.md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5"/>
                        </a:rPr>
                        <a:t>docs/README.md</a:t>
                      </a:r>
                      <a:r>
                        <a:rPr/>
                        <a:t> — full doc index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</a:t>
            </a:r>
            <a:r>
              <a:rPr>
                <a:latin typeface="Courier"/>
              </a:rPr>
              <a:t>project/</a:t>
            </a:r>
            <a:r>
              <a:rPr/>
              <a:t> folder as Hop project </a:t>
            </a:r>
            <a:r>
              <a:rPr b="1">
                <a:latin typeface="Courier"/>
              </a:rPr>
              <a:t>hop-data-vault</a:t>
            </a:r>
            <a:r>
              <a:rPr/>
              <a:t>, configure </a:t>
            </a:r>
            <a:r>
              <a:rPr b="1"/>
              <a:t>CRM</a:t>
            </a:r>
            <a:r>
              <a:rPr/>
              <a:t> and </a:t>
            </a:r>
            <a:r>
              <a:rPr b="1"/>
              <a:t>Vault</a:t>
            </a:r>
            <a:r>
              <a:rPr/>
              <a:t> connections, install plugin </a:t>
            </a:r>
            <a:r>
              <a:rPr b="1"/>
              <a:t>0.0.14-SNAPSHOT</a:t>
            </a:r>
            <a:r>
              <a:rPr/>
              <a:t>, and run </a:t>
            </a:r>
            <a:r>
              <a:rPr>
                <a:latin typeface="Courier"/>
              </a:rPr>
              <a:t>tests/run-tests.hwf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Hop Data Vault plugin turns Data Vault 2.0 from a pile of pipelines into a </a:t>
            </a:r>
            <a:r>
              <a:rPr b="1"/>
              <a:t>governed, model-driven platform</a:t>
            </a:r>
            <a:r>
              <a:rPr/>
              <a:t>:</a:t>
            </a:r>
          </a:p>
          <a:p>
            <a:pPr lvl="0"/>
            <a:r>
              <a:rPr/>
              <a:t>Raw vault loads generated from </a:t>
            </a:r>
            <a:r>
              <a:rPr>
                <a:latin typeface="Courier"/>
              </a:rPr>
              <a:t>.hdv</a:t>
            </a:r>
          </a:p>
          <a:p>
            <a:pPr lvl="0"/>
            <a:r>
              <a:rPr/>
              <a:t>Business vault SCD2 from </a:t>
            </a:r>
            <a:r>
              <a:rPr>
                <a:latin typeface="Courier"/>
              </a:rPr>
              <a:t>.hbv</a:t>
            </a:r>
          </a:p>
          <a:p>
            <a:pPr lvl="0"/>
            <a:r>
              <a:rPr/>
              <a:t>External tables welcomed, not blocked</a:t>
            </a:r>
          </a:p>
          <a:p>
            <a:pPr lvl="0"/>
            <a:r>
              <a:rPr/>
              <a:t>Validation before execution</a:t>
            </a:r>
          </a:p>
          <a:p>
            <a:pPr lvl="0"/>
            <a:r>
              <a:rPr/>
              <a:t>Sample project proves it end-to-end</a:t>
            </a:r>
          </a:p>
          <a:p>
            <a:pPr lvl="0" indent="0" marL="0">
              <a:buNone/>
            </a:pPr>
            <a:r>
              <a:rPr b="1"/>
              <a:t>Model the warehouse. Let Hop generate the mechanics.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2026-06-27T10:29:46Z</dcterms:created>
  <dcterms:modified xsi:type="dcterms:W3CDTF">2026-06-27T10:29:46Z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